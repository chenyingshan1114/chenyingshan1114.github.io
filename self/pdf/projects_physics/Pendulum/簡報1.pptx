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34"/>
    <p:restoredTop sz="94665"/>
  </p:normalViewPr>
  <p:slideViewPr>
    <p:cSldViewPr snapToGrid="0">
      <p:cViewPr varScale="1">
        <p:scale>
          <a:sx n="120" d="100"/>
          <a:sy n="120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89525-26E4-3240-B247-7540F8C094E9}" type="datetimeFigureOut">
              <a:rPr kumimoji="1" lang="zh-TW" altLang="en-US" smtClean="0"/>
              <a:t>2025/7/27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8125-F2F1-FB49-93A0-E392A710D0A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44248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89525-26E4-3240-B247-7540F8C094E9}" type="datetimeFigureOut">
              <a:rPr kumimoji="1" lang="zh-TW" altLang="en-US" smtClean="0"/>
              <a:t>2025/7/27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8125-F2F1-FB49-93A0-E392A710D0A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71575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89525-26E4-3240-B247-7540F8C094E9}" type="datetimeFigureOut">
              <a:rPr kumimoji="1" lang="zh-TW" altLang="en-US" smtClean="0"/>
              <a:t>2025/7/27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8125-F2F1-FB49-93A0-E392A710D0A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78255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89525-26E4-3240-B247-7540F8C094E9}" type="datetimeFigureOut">
              <a:rPr kumimoji="1" lang="zh-TW" altLang="en-US" smtClean="0"/>
              <a:t>2025/7/27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8125-F2F1-FB49-93A0-E392A710D0A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84839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89525-26E4-3240-B247-7540F8C094E9}" type="datetimeFigureOut">
              <a:rPr kumimoji="1" lang="zh-TW" altLang="en-US" smtClean="0"/>
              <a:t>2025/7/27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8125-F2F1-FB49-93A0-E392A710D0A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8534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89525-26E4-3240-B247-7540F8C094E9}" type="datetimeFigureOut">
              <a:rPr kumimoji="1" lang="zh-TW" altLang="en-US" smtClean="0"/>
              <a:t>2025/7/27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8125-F2F1-FB49-93A0-E392A710D0A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0236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89525-26E4-3240-B247-7540F8C094E9}" type="datetimeFigureOut">
              <a:rPr kumimoji="1" lang="zh-TW" altLang="en-US" smtClean="0"/>
              <a:t>2025/7/27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8125-F2F1-FB49-93A0-E392A710D0A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54939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89525-26E4-3240-B247-7540F8C094E9}" type="datetimeFigureOut">
              <a:rPr kumimoji="1" lang="zh-TW" altLang="en-US" smtClean="0"/>
              <a:t>2025/7/27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8125-F2F1-FB49-93A0-E392A710D0A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8827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89525-26E4-3240-B247-7540F8C094E9}" type="datetimeFigureOut">
              <a:rPr kumimoji="1" lang="zh-TW" altLang="en-US" smtClean="0"/>
              <a:t>2025/7/27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8125-F2F1-FB49-93A0-E392A710D0A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33044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89525-26E4-3240-B247-7540F8C094E9}" type="datetimeFigureOut">
              <a:rPr kumimoji="1" lang="zh-TW" altLang="en-US" smtClean="0"/>
              <a:t>2025/7/27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8125-F2F1-FB49-93A0-E392A710D0A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54760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89525-26E4-3240-B247-7540F8C094E9}" type="datetimeFigureOut">
              <a:rPr kumimoji="1" lang="zh-TW" altLang="en-US" smtClean="0"/>
              <a:t>2025/7/27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D8125-F2F1-FB49-93A0-E392A710D0A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5818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B89525-26E4-3240-B247-7540F8C094E9}" type="datetimeFigureOut">
              <a:rPr kumimoji="1" lang="zh-TW" altLang="en-US" smtClean="0"/>
              <a:t>2025/7/27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D8125-F2F1-FB49-93A0-E392A710D0A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5480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A1C6A6-E001-7345-A05F-6512289A17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Equation of motion of double pendulum system</a:t>
            </a:r>
            <a:endParaRPr kumimoji="1"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88892E3-BC87-4202-4073-593C344C42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TW" dirty="0"/>
              <a:t>2025.07.27 Ying-Shan Chen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11353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1E4F0D-7F9E-9C4E-F17B-52D7C39A0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Definition</a:t>
            </a:r>
            <a:endParaRPr kumimoji="1"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F07507EE-F0DC-7AFB-F469-07EC5A780BC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978196" y="3066826"/>
            <a:ext cx="375827" cy="7923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9E540DF3-A4EE-3989-215D-89141DA67DDF}"/>
              </a:ext>
            </a:extLst>
          </p:cNvPr>
          <p:cNvCxnSpPr>
            <a:cxnSpLocks/>
            <a:stCxn id="12" idx="5"/>
            <a:endCxn id="18" idx="0"/>
          </p:cNvCxnSpPr>
          <p:nvPr/>
        </p:nvCxnSpPr>
        <p:spPr>
          <a:xfrm>
            <a:off x="1519427" y="4024573"/>
            <a:ext cx="354562" cy="79234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橢圓 11">
            <a:extLst>
              <a:ext uri="{FF2B5EF4-FFF2-40B4-BE49-F238E27FC236}">
                <a16:creationId xmlns:a16="http://schemas.microsoft.com/office/drawing/2014/main" id="{6BAD081A-7DD7-B4A2-EACF-07DF6D98E6FD}"/>
              </a:ext>
            </a:extLst>
          </p:cNvPr>
          <p:cNvSpPr/>
          <p:nvPr/>
        </p:nvSpPr>
        <p:spPr>
          <a:xfrm>
            <a:off x="1319767" y="3824913"/>
            <a:ext cx="233916" cy="2339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3458E57-68C0-85D5-F309-9FD25DDB590B}"/>
              </a:ext>
            </a:extLst>
          </p:cNvPr>
          <p:cNvSpPr/>
          <p:nvPr/>
        </p:nvSpPr>
        <p:spPr>
          <a:xfrm>
            <a:off x="1757031" y="4816916"/>
            <a:ext cx="233916" cy="2339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5FAE731F-0C63-27BA-C858-F57CB671B427}"/>
              </a:ext>
            </a:extLst>
          </p:cNvPr>
          <p:cNvCxnSpPr>
            <a:cxnSpLocks/>
          </p:cNvCxnSpPr>
          <p:nvPr/>
        </p:nvCxnSpPr>
        <p:spPr>
          <a:xfrm>
            <a:off x="827125" y="3067018"/>
            <a:ext cx="115894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55A4287B-3460-209D-2979-1C620F3063DD}"/>
              </a:ext>
            </a:extLst>
          </p:cNvPr>
          <p:cNvCxnSpPr>
            <a:cxnSpLocks/>
          </p:cNvCxnSpPr>
          <p:nvPr/>
        </p:nvCxnSpPr>
        <p:spPr>
          <a:xfrm flipV="1">
            <a:off x="979525" y="2036068"/>
            <a:ext cx="0" cy="1183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8FB36CA-85B4-7F02-FB7D-260B306E1624}"/>
                  </a:ext>
                </a:extLst>
              </p:cNvPr>
              <p:cNvSpPr txBox="1"/>
              <p:nvPr/>
            </p:nvSpPr>
            <p:spPr>
              <a:xfrm>
                <a:off x="1986074" y="2882352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8FB36CA-85B4-7F02-FB7D-260B306E1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074" y="2882352"/>
                <a:ext cx="68048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87F88DBB-5A14-E13D-73BC-C188B1D2A98C}"/>
                  </a:ext>
                </a:extLst>
              </p:cNvPr>
              <p:cNvSpPr txBox="1"/>
              <p:nvPr/>
            </p:nvSpPr>
            <p:spPr>
              <a:xfrm>
                <a:off x="639283" y="1690689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87F88DBB-5A14-E13D-73BC-C188B1D2A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83" y="1690689"/>
                <a:ext cx="680484" cy="369332"/>
              </a:xfrm>
              <a:prstGeom prst="rect">
                <a:avLst/>
              </a:prstGeom>
              <a:blipFill>
                <a:blip r:embed="rId3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E14775F-7522-663B-80AA-02E1D5D3BCA5}"/>
                  </a:ext>
                </a:extLst>
              </p:cNvPr>
              <p:cNvSpPr txBox="1"/>
              <p:nvPr/>
            </p:nvSpPr>
            <p:spPr>
              <a:xfrm>
                <a:off x="1149716" y="3278331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E14775F-7522-663B-80AA-02E1D5D3B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9716" y="3278331"/>
                <a:ext cx="6804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DBFBCD8C-7936-EC68-F21E-E381DC3DA2AD}"/>
                  </a:ext>
                </a:extLst>
              </p:cNvPr>
              <p:cNvSpPr txBox="1"/>
              <p:nvPr/>
            </p:nvSpPr>
            <p:spPr>
              <a:xfrm>
                <a:off x="1606472" y="4235885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DBFBCD8C-7936-EC68-F21E-E381DC3DA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472" y="4235885"/>
                <a:ext cx="6804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1EF2AF99-AF0B-0209-92D4-96BA31543439}"/>
                  </a:ext>
                </a:extLst>
              </p:cNvPr>
              <p:cNvSpPr txBox="1"/>
              <p:nvPr/>
            </p:nvSpPr>
            <p:spPr>
              <a:xfrm>
                <a:off x="1416789" y="3689497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1EF2AF99-AF0B-0209-92D4-96BA31543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789" y="3689497"/>
                <a:ext cx="6804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8FA9CCF4-38D4-CBE3-3239-AE68DD7015EC}"/>
                  </a:ext>
                </a:extLst>
              </p:cNvPr>
              <p:cNvSpPr txBox="1"/>
              <p:nvPr/>
            </p:nvSpPr>
            <p:spPr>
              <a:xfrm>
                <a:off x="1866970" y="4831910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8FA9CCF4-38D4-CBE3-3239-AE68DD701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970" y="4831910"/>
                <a:ext cx="6804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7421855-2483-9FBE-C33D-73FA25BAC6F7}"/>
                  </a:ext>
                </a:extLst>
              </p:cNvPr>
              <p:cNvSpPr txBox="1"/>
              <p:nvPr/>
            </p:nvSpPr>
            <p:spPr>
              <a:xfrm>
                <a:off x="664091" y="3413747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7421855-2483-9FBE-C33D-73FA25BAC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091" y="3413747"/>
                <a:ext cx="6804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47100CDC-E3B2-3868-A89F-E0F1B1B9E02F}"/>
                  </a:ext>
                </a:extLst>
              </p:cNvPr>
              <p:cNvSpPr txBox="1"/>
              <p:nvPr/>
            </p:nvSpPr>
            <p:spPr>
              <a:xfrm>
                <a:off x="1059747" y="4322374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47100CDC-E3B2-3868-A89F-E0F1B1B9E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747" y="4322374"/>
                <a:ext cx="68048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6329D5D4-3190-ED51-E63B-5D75EFA93EC0}"/>
                  </a:ext>
                </a:extLst>
              </p:cNvPr>
              <p:cNvSpPr txBox="1"/>
              <p:nvPr/>
            </p:nvSpPr>
            <p:spPr>
              <a:xfrm>
                <a:off x="2073649" y="3672465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6329D5D4-3190-ED51-E63B-5D75EFA93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3649" y="3672465"/>
                <a:ext cx="680484" cy="369332"/>
              </a:xfrm>
              <a:prstGeom prst="rect">
                <a:avLst/>
              </a:prstGeom>
              <a:blipFill>
                <a:blip r:embed="rId10"/>
                <a:stretch>
                  <a:fillRect r="-16667" b="-64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41DE6AA-520B-CB78-5823-57E53C2BF4EB}"/>
                  </a:ext>
                </a:extLst>
              </p:cNvPr>
              <p:cNvSpPr txBox="1"/>
              <p:nvPr/>
            </p:nvSpPr>
            <p:spPr>
              <a:xfrm>
                <a:off x="1258111" y="5193592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41DE6AA-520B-CB78-5823-57E53C2BF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111" y="5193592"/>
                <a:ext cx="680484" cy="369332"/>
              </a:xfrm>
              <a:prstGeom prst="rect">
                <a:avLst/>
              </a:prstGeom>
              <a:blipFill>
                <a:blip r:embed="rId11"/>
                <a:stretch>
                  <a:fillRect r="-18182" b="-64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內容版面配置區 6">
                <a:extLst>
                  <a:ext uri="{FF2B5EF4-FFF2-40B4-BE49-F238E27FC236}">
                    <a16:creationId xmlns:a16="http://schemas.microsoft.com/office/drawing/2014/main" id="{8DA78C3C-BF46-D0DA-9C98-FB785832B4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56312" y="212651"/>
                <a:ext cx="5359037" cy="63901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/>
                  <a:t>Position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type m:val="noBar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</m:den>
                            </m:f>
                          </m:e>
                          <m:e>
                            <m:f>
                              <m:fPr>
                                <m:type m:val="noBar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func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func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velocity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type m:val="noBar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</m:den>
                            </m:f>
                          </m:e>
                          <m:e>
                            <m:f>
                              <m:fPr>
                                <m:type m:val="noBar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func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func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zh-TW" altLang="en-US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acceleration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type m:val="noBar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</m:den>
                            </m:f>
                          </m:e>
                          <m:e>
                            <m:f>
                              <m:fPr>
                                <m:type m:val="noBar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func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func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zh-TW" altLang="en-US" dirty="0"/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>
          <p:sp>
            <p:nvSpPr>
              <p:cNvPr id="37" name="內容版面配置區 6">
                <a:extLst>
                  <a:ext uri="{FF2B5EF4-FFF2-40B4-BE49-F238E27FC236}">
                    <a16:creationId xmlns:a16="http://schemas.microsoft.com/office/drawing/2014/main" id="{8DA78C3C-BF46-D0DA-9C98-FB785832B4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6312" y="212651"/>
                <a:ext cx="5359037" cy="6390168"/>
              </a:xfrm>
              <a:blipFill>
                <a:blip r:embed="rId12"/>
                <a:stretch>
                  <a:fillRect l="-30733" t="-59921" b="-71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951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6ED7E-6264-1003-B494-65FE20C7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4F083A-0ABC-9D5B-96CC-A4A609C8C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Definition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44878A2C-D65C-5F50-2035-2ED999C749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56312" y="1825625"/>
                <a:ext cx="5359037" cy="435133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altLang="zh-TW" dirty="0"/>
                  <a:t>By Newton’s second law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altLang="zh-TW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func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func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44878A2C-D65C-5F50-2035-2ED999C749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56312" y="1825625"/>
                <a:ext cx="5359037" cy="4351338"/>
              </a:xfrm>
              <a:blipFill>
                <a:blip r:embed="rId2"/>
                <a:stretch>
                  <a:fillRect l="-1891" t="-2035" r="-11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橢圓 31">
            <a:extLst>
              <a:ext uri="{FF2B5EF4-FFF2-40B4-BE49-F238E27FC236}">
                <a16:creationId xmlns:a16="http://schemas.microsoft.com/office/drawing/2014/main" id="{8767B66F-9A70-1FDD-CA53-54ACB38D5AC7}"/>
              </a:ext>
            </a:extLst>
          </p:cNvPr>
          <p:cNvSpPr/>
          <p:nvPr/>
        </p:nvSpPr>
        <p:spPr>
          <a:xfrm>
            <a:off x="1617478" y="2237271"/>
            <a:ext cx="233916" cy="2339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63608781-7822-F77D-7C52-01BBC505E5BA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1275907" y="1479184"/>
            <a:ext cx="375827" cy="792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直線箭頭接點 48">
            <a:extLst>
              <a:ext uri="{FF2B5EF4-FFF2-40B4-BE49-F238E27FC236}">
                <a16:creationId xmlns:a16="http://schemas.microsoft.com/office/drawing/2014/main" id="{C0BD6B88-75F1-54CE-EEE0-644B576A9040}"/>
              </a:ext>
            </a:extLst>
          </p:cNvPr>
          <p:cNvCxnSpPr>
            <a:cxnSpLocks/>
            <a:stCxn id="32" idx="5"/>
          </p:cNvCxnSpPr>
          <p:nvPr/>
        </p:nvCxnSpPr>
        <p:spPr>
          <a:xfrm>
            <a:off x="1817138" y="2436931"/>
            <a:ext cx="354562" cy="792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4FB6F138-39ED-D256-DBA9-3B7B0EF77CFB}"/>
                  </a:ext>
                </a:extLst>
              </p:cNvPr>
              <p:cNvSpPr txBox="1"/>
              <p:nvPr/>
            </p:nvSpPr>
            <p:spPr>
              <a:xfrm>
                <a:off x="1447427" y="1690689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4FB6F138-39ED-D256-DBA9-3B7B0EF77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427" y="1690689"/>
                <a:ext cx="6804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BB6EC908-E863-046B-B4B1-8B2D5AD4FBA2}"/>
                  </a:ext>
                </a:extLst>
              </p:cNvPr>
              <p:cNvSpPr txBox="1"/>
              <p:nvPr/>
            </p:nvSpPr>
            <p:spPr>
              <a:xfrm>
                <a:off x="1904183" y="2648243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BB6EC908-E863-046B-B4B1-8B2D5AD4F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183" y="2648243"/>
                <a:ext cx="6804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5362649F-2DF7-3BD3-BEF4-79FB95ED8A99}"/>
                  </a:ext>
                </a:extLst>
              </p:cNvPr>
              <p:cNvSpPr txBox="1"/>
              <p:nvPr/>
            </p:nvSpPr>
            <p:spPr>
              <a:xfrm>
                <a:off x="961802" y="1826105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5362649F-2DF7-3BD3-BEF4-79FB95ED8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802" y="1826105"/>
                <a:ext cx="6804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970578C1-978C-B996-F0AB-2892B3A2F5CE}"/>
                  </a:ext>
                </a:extLst>
              </p:cNvPr>
              <p:cNvSpPr txBox="1"/>
              <p:nvPr/>
            </p:nvSpPr>
            <p:spPr>
              <a:xfrm>
                <a:off x="1357458" y="2734732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970578C1-978C-B996-F0AB-2892B3A2F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458" y="2734732"/>
                <a:ext cx="6804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直線箭頭接點 56">
            <a:extLst>
              <a:ext uri="{FF2B5EF4-FFF2-40B4-BE49-F238E27FC236}">
                <a16:creationId xmlns:a16="http://schemas.microsoft.com/office/drawing/2014/main" id="{D8A75562-E7A5-7437-A192-88CCF1A95059}"/>
              </a:ext>
            </a:extLst>
          </p:cNvPr>
          <p:cNvCxnSpPr>
            <a:cxnSpLocks/>
            <a:stCxn id="32" idx="4"/>
          </p:cNvCxnSpPr>
          <p:nvPr/>
        </p:nvCxnSpPr>
        <p:spPr>
          <a:xfrm>
            <a:off x="1734436" y="2471187"/>
            <a:ext cx="0" cy="1236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B0456291-2DDE-E373-CEC8-75D04B42A3D7}"/>
                  </a:ext>
                </a:extLst>
              </p:cNvPr>
              <p:cNvSpPr txBox="1"/>
              <p:nvPr/>
            </p:nvSpPr>
            <p:spPr>
              <a:xfrm>
                <a:off x="1357458" y="3733829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B0456291-2DDE-E373-CEC8-75D04B42A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458" y="3733829"/>
                <a:ext cx="680484" cy="369332"/>
              </a:xfrm>
              <a:prstGeom prst="rect">
                <a:avLst/>
              </a:prstGeom>
              <a:blipFill>
                <a:blip r:embed="rId7"/>
                <a:stretch>
                  <a:fillRect r="-14815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橢圓 62">
            <a:extLst>
              <a:ext uri="{FF2B5EF4-FFF2-40B4-BE49-F238E27FC236}">
                <a16:creationId xmlns:a16="http://schemas.microsoft.com/office/drawing/2014/main" id="{D22871DA-F6D0-DBD5-D853-6D1633926501}"/>
              </a:ext>
            </a:extLst>
          </p:cNvPr>
          <p:cNvSpPr/>
          <p:nvPr/>
        </p:nvSpPr>
        <p:spPr>
          <a:xfrm>
            <a:off x="909359" y="4702868"/>
            <a:ext cx="233916" cy="2339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4EADF8CF-F5AD-EBEC-34F7-F5E2CE4192C2}"/>
                  </a:ext>
                </a:extLst>
              </p:cNvPr>
              <p:cNvSpPr txBox="1"/>
              <p:nvPr/>
            </p:nvSpPr>
            <p:spPr>
              <a:xfrm>
                <a:off x="758800" y="4121837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4EADF8CF-F5AD-EBEC-34F7-F5E2CE419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00" y="4121837"/>
                <a:ext cx="6804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8C4A5BD5-1EEF-1E53-4EE4-ABA28FAE8F3E}"/>
                  </a:ext>
                </a:extLst>
              </p:cNvPr>
              <p:cNvSpPr txBox="1"/>
              <p:nvPr/>
            </p:nvSpPr>
            <p:spPr>
              <a:xfrm>
                <a:off x="212075" y="4208326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8C4A5BD5-1EEF-1E53-4EE4-ABA28FAE8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75" y="4208326"/>
                <a:ext cx="68048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直線箭頭接點 70">
            <a:extLst>
              <a:ext uri="{FF2B5EF4-FFF2-40B4-BE49-F238E27FC236}">
                <a16:creationId xmlns:a16="http://schemas.microsoft.com/office/drawing/2014/main" id="{44F846CB-2F68-3268-3D5B-2BBA2F3724E9}"/>
              </a:ext>
            </a:extLst>
          </p:cNvPr>
          <p:cNvCxnSpPr>
            <a:cxnSpLocks/>
            <a:stCxn id="63" idx="0"/>
          </p:cNvCxnSpPr>
          <p:nvPr/>
        </p:nvCxnSpPr>
        <p:spPr>
          <a:xfrm flipH="1" flipV="1">
            <a:off x="671755" y="3910525"/>
            <a:ext cx="354562" cy="792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直線箭頭接點 71">
            <a:extLst>
              <a:ext uri="{FF2B5EF4-FFF2-40B4-BE49-F238E27FC236}">
                <a16:creationId xmlns:a16="http://schemas.microsoft.com/office/drawing/2014/main" id="{8ED8FE07-BFB4-6E04-70EB-D0E3DAFF2C3D}"/>
              </a:ext>
            </a:extLst>
          </p:cNvPr>
          <p:cNvCxnSpPr>
            <a:cxnSpLocks/>
            <a:stCxn id="63" idx="4"/>
          </p:cNvCxnSpPr>
          <p:nvPr/>
        </p:nvCxnSpPr>
        <p:spPr>
          <a:xfrm>
            <a:off x="1026317" y="4936784"/>
            <a:ext cx="0" cy="12401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EC92FE73-D98F-6748-9A89-64F3B7D9D350}"/>
                  </a:ext>
                </a:extLst>
              </p:cNvPr>
              <p:cNvSpPr txBox="1"/>
              <p:nvPr/>
            </p:nvSpPr>
            <p:spPr>
              <a:xfrm>
                <a:off x="649339" y="6203420"/>
                <a:ext cx="6804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kumimoji="1" lang="zh-TW" altLang="en-US" dirty="0"/>
              </a:p>
            </p:txBody>
          </p:sp>
        </mc:Choice>
        <mc:Fallback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EC92FE73-D98F-6748-9A89-64F3B7D9D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339" y="6203420"/>
                <a:ext cx="680484" cy="369332"/>
              </a:xfrm>
              <a:prstGeom prst="rect">
                <a:avLst/>
              </a:prstGeom>
              <a:blipFill>
                <a:blip r:embed="rId10"/>
                <a:stretch>
                  <a:fillRect r="-16667"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86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DBC8F-420A-D4BF-281B-7519E37B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73F676-61C9-7C02-79CF-EF2858CE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Derivation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BB8C7E41-FE34-DB27-F337-90EE489F85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41721"/>
                <a:ext cx="7579685" cy="464642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altLang="zh-TW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func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altLang="zh-TW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func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noBar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sSub>
                                    <m:sSubPr>
                                      <m:ctrlPr>
                                        <a:rPr lang="en-US" altLang="zh-TW" i="1" smtClean="0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altLang="zh-TW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solidFill>
                                                <a:schemeClr val="tx2">
                                                  <a:lumMod val="75000"/>
                                                  <a:lumOff val="2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TW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altLang="zh-TW" b="0" i="1" smtClean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zh-TW" i="0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solidFill>
                                                <a:schemeClr val="accent6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func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7" name="內容版面配置區 6">
                <a:extLst>
                  <a:ext uri="{FF2B5EF4-FFF2-40B4-BE49-F238E27FC236}">
                    <a16:creationId xmlns:a16="http://schemas.microsoft.com/office/drawing/2014/main" id="{BB8C7E41-FE34-DB27-F337-90EE489F85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41721"/>
                <a:ext cx="7579685" cy="4646428"/>
              </a:xfrm>
              <a:blipFill>
                <a:blip r:embed="rId2"/>
                <a:stretch>
                  <a:fillRect l="-14548" b="-455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635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8366F-D4B6-4680-51B0-D8DD880F3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8B3747-482E-3973-CEA6-40AB27C09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Derivation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BB8CFD9-E777-4AA6-865A-9EA2A3D96B8E}"/>
                  </a:ext>
                </a:extLst>
              </p:cNvPr>
              <p:cNvSpPr txBox="1"/>
              <p:nvPr/>
            </p:nvSpPr>
            <p:spPr>
              <a:xfrm>
                <a:off x="793568" y="2025373"/>
                <a:ext cx="2864032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BB8CFD9-E777-4AA6-865A-9EA2A3D96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68" y="2025373"/>
                <a:ext cx="2864032" cy="710194"/>
              </a:xfrm>
              <a:prstGeom prst="rect">
                <a:avLst/>
              </a:prstGeom>
              <a:blipFill>
                <a:blip r:embed="rId2"/>
                <a:stretch>
                  <a:fillRect l="-37611" t="-191228" r="-45133" b="-2771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58AC51A-B936-B1CE-1325-CC673AE0D813}"/>
                  </a:ext>
                </a:extLst>
              </p:cNvPr>
              <p:cNvSpPr txBox="1"/>
              <p:nvPr/>
            </p:nvSpPr>
            <p:spPr>
              <a:xfrm>
                <a:off x="1707968" y="3255580"/>
                <a:ext cx="2864032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58AC51A-B936-B1CE-1325-CC673AE0D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968" y="3255580"/>
                <a:ext cx="2864032" cy="710194"/>
              </a:xfrm>
              <a:prstGeom prst="rect">
                <a:avLst/>
              </a:prstGeom>
              <a:blipFill>
                <a:blip r:embed="rId3"/>
                <a:stretch>
                  <a:fillRect l="-37611" t="-191228" r="-89381" b="-2771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EAD6FA1B-416B-1E5E-D965-9B0B5D30558A}"/>
              </a:ext>
            </a:extLst>
          </p:cNvPr>
          <p:cNvCxnSpPr/>
          <p:nvPr/>
        </p:nvCxnSpPr>
        <p:spPr>
          <a:xfrm>
            <a:off x="4476307" y="2243470"/>
            <a:ext cx="11376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50FF1C49-DA95-33F6-E7CB-9F3DF471DF79}"/>
              </a:ext>
            </a:extLst>
          </p:cNvPr>
          <p:cNvCxnSpPr/>
          <p:nvPr/>
        </p:nvCxnSpPr>
        <p:spPr>
          <a:xfrm>
            <a:off x="5045149" y="2576623"/>
            <a:ext cx="11376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FAEC18B-3692-73B2-DB99-34AAE910F900}"/>
                  </a:ext>
                </a:extLst>
              </p:cNvPr>
              <p:cNvSpPr txBox="1"/>
              <p:nvPr/>
            </p:nvSpPr>
            <p:spPr>
              <a:xfrm>
                <a:off x="4572000" y="1821709"/>
                <a:ext cx="10352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AFAEC18B-3692-73B2-DB99-34AAE910F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821709"/>
                <a:ext cx="10352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79942C1-6ECE-0B2A-5CDE-8151ADF14658}"/>
                  </a:ext>
                </a:extLst>
              </p:cNvPr>
              <p:cNvSpPr txBox="1"/>
              <p:nvPr/>
            </p:nvSpPr>
            <p:spPr>
              <a:xfrm>
                <a:off x="5096375" y="2611586"/>
                <a:ext cx="10352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79942C1-6ECE-0B2A-5CDE-8151ADF14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375" y="2611586"/>
                <a:ext cx="10352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49D8F61F-0905-035C-75A6-1E29DD0C9DD4}"/>
              </a:ext>
            </a:extLst>
          </p:cNvPr>
          <p:cNvCxnSpPr/>
          <p:nvPr/>
        </p:nvCxnSpPr>
        <p:spPr>
          <a:xfrm>
            <a:off x="444795" y="3562101"/>
            <a:ext cx="11376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389901D-1F6F-0170-196C-A4D292B6C994}"/>
              </a:ext>
            </a:extLst>
          </p:cNvPr>
          <p:cNvSpPr txBox="1"/>
          <p:nvPr/>
        </p:nvSpPr>
        <p:spPr>
          <a:xfrm>
            <a:off x="496020" y="3597064"/>
            <a:ext cx="1137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rearrange</a:t>
            </a:r>
            <a:endParaRPr lang="zh-TW" altLang="en-US" dirty="0"/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61AB5E32-9B30-4B62-3BC3-31B85E9313B2}"/>
              </a:ext>
            </a:extLst>
          </p:cNvPr>
          <p:cNvCxnSpPr/>
          <p:nvPr/>
        </p:nvCxnSpPr>
        <p:spPr>
          <a:xfrm>
            <a:off x="446896" y="4841552"/>
            <a:ext cx="11376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971DE1A-C0D8-D873-A116-7FAF6DA72454}"/>
              </a:ext>
            </a:extLst>
          </p:cNvPr>
          <p:cNvSpPr txBox="1"/>
          <p:nvPr/>
        </p:nvSpPr>
        <p:spPr>
          <a:xfrm>
            <a:off x="498121" y="4876515"/>
            <a:ext cx="1084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combine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0869CCF-A42D-5298-EF06-FA705560CE2B}"/>
                  </a:ext>
                </a:extLst>
              </p:cNvPr>
              <p:cNvSpPr txBox="1"/>
              <p:nvPr/>
            </p:nvSpPr>
            <p:spPr>
              <a:xfrm>
                <a:off x="1294514" y="4656886"/>
                <a:ext cx="76581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0869CCF-A42D-5298-EF06-FA705560C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514" y="4656886"/>
                <a:ext cx="76581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918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58154-1662-81CE-3451-F83B9EE1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3504D5-7AFC-506A-ED3C-1FD079B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Derivation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8E2DD54-C3AA-4E4D-314C-6B31BB6E4A81}"/>
                  </a:ext>
                </a:extLst>
              </p:cNvPr>
              <p:cNvSpPr txBox="1"/>
              <p:nvPr/>
            </p:nvSpPr>
            <p:spPr>
              <a:xfrm>
                <a:off x="793568" y="2025373"/>
                <a:ext cx="2864032" cy="811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</m:num>
                            <m:den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̈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B8E2DD54-C3AA-4E4D-314C-6B31BB6E4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568" y="2025373"/>
                <a:ext cx="2864032" cy="811761"/>
              </a:xfrm>
              <a:prstGeom prst="rect">
                <a:avLst/>
              </a:prstGeom>
              <a:blipFill>
                <a:blip r:embed="rId2"/>
                <a:stretch>
                  <a:fillRect l="-40265" t="-192308" b="-28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3792942-2965-932B-FA68-FE7B75B689C6}"/>
                  </a:ext>
                </a:extLst>
              </p:cNvPr>
              <p:cNvSpPr txBox="1"/>
              <p:nvPr/>
            </p:nvSpPr>
            <p:spPr>
              <a:xfrm>
                <a:off x="1707968" y="3255580"/>
                <a:ext cx="2864032" cy="811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i="1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chemeClr val="tx2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schemeClr val="tx2">
                                              <a:lumMod val="75000"/>
                                              <a:lumOff val="2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altLang="zh-TW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  <m:func>
                                <m:funcPr>
                                  <m:ctrlPr>
                                    <a:rPr lang="en-US" altLang="zh-TW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solidFill>
                                            <a:schemeClr val="accent6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zh-TW" b="0" i="1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unc>
                                <m:func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TW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  <m:d>
                                <m:d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̈"/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03792942-2965-932B-FA68-FE7B75B68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7968" y="3255580"/>
                <a:ext cx="2864032" cy="811761"/>
              </a:xfrm>
              <a:prstGeom prst="rect">
                <a:avLst/>
              </a:prstGeom>
              <a:blipFill>
                <a:blip r:embed="rId3"/>
                <a:stretch>
                  <a:fillRect l="-43805" t="-193846" r="-37168" b="-28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DF4CF220-A9F1-05B1-145A-2C1EB7C43019}"/>
              </a:ext>
            </a:extLst>
          </p:cNvPr>
          <p:cNvCxnSpPr/>
          <p:nvPr/>
        </p:nvCxnSpPr>
        <p:spPr>
          <a:xfrm>
            <a:off x="3441075" y="2262468"/>
            <a:ext cx="11376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AA270643-07B6-D8E1-BBBE-4E179A866EC0}"/>
              </a:ext>
            </a:extLst>
          </p:cNvPr>
          <p:cNvCxnSpPr/>
          <p:nvPr/>
        </p:nvCxnSpPr>
        <p:spPr>
          <a:xfrm>
            <a:off x="4009917" y="2595621"/>
            <a:ext cx="11376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103A320-C261-B62A-FBF9-AA7B134BAD37}"/>
                  </a:ext>
                </a:extLst>
              </p:cNvPr>
              <p:cNvSpPr txBox="1"/>
              <p:nvPr/>
            </p:nvSpPr>
            <p:spPr>
              <a:xfrm>
                <a:off x="3536768" y="1840707"/>
                <a:ext cx="10352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103A320-C261-B62A-FBF9-AA7B134BA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6768" y="1840707"/>
                <a:ext cx="103523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C18E199-A2F4-3B17-B06C-CC739F515D8A}"/>
                  </a:ext>
                </a:extLst>
              </p:cNvPr>
              <p:cNvSpPr txBox="1"/>
              <p:nvPr/>
            </p:nvSpPr>
            <p:spPr>
              <a:xfrm>
                <a:off x="4061143" y="2630584"/>
                <a:ext cx="103523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×</m:t>
                      </m:r>
                      <m:func>
                        <m:func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8C18E199-A2F4-3B17-B06C-CC739F515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1143" y="2630584"/>
                <a:ext cx="103523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86EA95A4-93B9-2981-58F4-5D07534BEFF0}"/>
              </a:ext>
            </a:extLst>
          </p:cNvPr>
          <p:cNvCxnSpPr/>
          <p:nvPr/>
        </p:nvCxnSpPr>
        <p:spPr>
          <a:xfrm>
            <a:off x="444795" y="3562101"/>
            <a:ext cx="11376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D29CF85-FA87-9B62-9888-CE08C236571C}"/>
              </a:ext>
            </a:extLst>
          </p:cNvPr>
          <p:cNvSpPr txBox="1"/>
          <p:nvPr/>
        </p:nvSpPr>
        <p:spPr>
          <a:xfrm>
            <a:off x="496020" y="3597064"/>
            <a:ext cx="11376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rearrange</a:t>
            </a:r>
            <a:endParaRPr lang="zh-TW" altLang="en-US" dirty="0"/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C29C638C-C576-B0D5-E15C-C4F739C63007}"/>
              </a:ext>
            </a:extLst>
          </p:cNvPr>
          <p:cNvCxnSpPr/>
          <p:nvPr/>
        </p:nvCxnSpPr>
        <p:spPr>
          <a:xfrm>
            <a:off x="446896" y="4841552"/>
            <a:ext cx="11376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79402C1-377B-C616-A3E1-6FB4BDFB28F4}"/>
              </a:ext>
            </a:extLst>
          </p:cNvPr>
          <p:cNvSpPr txBox="1"/>
          <p:nvPr/>
        </p:nvSpPr>
        <p:spPr>
          <a:xfrm>
            <a:off x="498121" y="4876515"/>
            <a:ext cx="10843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combine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13D1D6C-FAEF-FB61-6174-1042D2F8BC52}"/>
                  </a:ext>
                </a:extLst>
              </p:cNvPr>
              <p:cNvSpPr txBox="1"/>
              <p:nvPr/>
            </p:nvSpPr>
            <p:spPr>
              <a:xfrm>
                <a:off x="1294514" y="4656886"/>
                <a:ext cx="76581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13D1D6C-FAEF-FB61-6174-1042D2F8B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4514" y="4656886"/>
                <a:ext cx="765810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6070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23592-CD93-68C4-CF7E-41274E6D9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F9BB5B-8EF6-30FB-8E21-A8DA2BFC6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Derivation</a:t>
            </a:r>
            <a:endParaRPr kumimoji="1"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FBFC86-2484-A3B5-EDDD-9D15B8050224}"/>
                  </a:ext>
                </a:extLst>
              </p:cNvPr>
              <p:cNvSpPr txBox="1"/>
              <p:nvPr/>
            </p:nvSpPr>
            <p:spPr>
              <a:xfrm>
                <a:off x="1007435" y="1786832"/>
                <a:ext cx="76581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98FBFC86-2484-A3B5-EDDD-9D15B80502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435" y="1786832"/>
                <a:ext cx="7658100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9686215-7984-49AA-D505-7213B0AC29BE}"/>
                  </a:ext>
                </a:extLst>
              </p:cNvPr>
              <p:cNvSpPr txBox="1"/>
              <p:nvPr/>
            </p:nvSpPr>
            <p:spPr>
              <a:xfrm>
                <a:off x="628650" y="1417500"/>
                <a:ext cx="76581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9686215-7984-49AA-D505-7213B0AC2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417500"/>
                <a:ext cx="7658100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BD80171-5339-6C9C-BECA-EACF58B1EFFF}"/>
                  </a:ext>
                </a:extLst>
              </p:cNvPr>
              <p:cNvSpPr txBox="1"/>
              <p:nvPr/>
            </p:nvSpPr>
            <p:spPr>
              <a:xfrm>
                <a:off x="2009553" y="2256050"/>
                <a:ext cx="4572000" cy="14684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/>
                  <a:t>Substitute  acceleration to solve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̈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/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f>
                              <m:fPr>
                                <m:type m:val="noBar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den>
                            </m:f>
                          </m:e>
                          <m:e>
                            <m:f>
                              <m:fPr>
                                <m:type m:val="noBar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TW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̇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̈"/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BD80171-5339-6C9C-BECA-EACF58B1E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9553" y="2256050"/>
                <a:ext cx="4572000" cy="1468415"/>
              </a:xfrm>
              <a:prstGeom prst="rect">
                <a:avLst/>
              </a:prstGeom>
              <a:blipFill>
                <a:blip r:embed="rId4"/>
                <a:stretch>
                  <a:fillRect l="-1108" t="-8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3113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263</TotalTime>
  <Words>101</Words>
  <Application>Microsoft Macintosh PowerPoint</Application>
  <PresentationFormat>如螢幕大小 (4:3)</PresentationFormat>
  <Paragraphs>55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佈景主題</vt:lpstr>
      <vt:lpstr>Equation of motion of double pendulum system</vt:lpstr>
      <vt:lpstr>Definition</vt:lpstr>
      <vt:lpstr>Definition</vt:lpstr>
      <vt:lpstr>Derivation</vt:lpstr>
      <vt:lpstr>Derivation</vt:lpstr>
      <vt:lpstr>Derivation</vt:lpstr>
      <vt:lpstr>Derivation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李又勝 (110202528)</dc:creator>
  <cp:lastModifiedBy>李又勝 (110202528)</cp:lastModifiedBy>
  <cp:revision>1</cp:revision>
  <dcterms:created xsi:type="dcterms:W3CDTF">2025-07-27T03:08:15Z</dcterms:created>
  <dcterms:modified xsi:type="dcterms:W3CDTF">2025-07-27T07:31:22Z</dcterms:modified>
</cp:coreProperties>
</file>